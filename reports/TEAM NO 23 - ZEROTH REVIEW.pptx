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1" r:id="rId6"/>
    <p:sldId id="267" r:id="rId7"/>
    <p:sldId id="268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1E09B7"/>
    <a:srgbClr val="180797"/>
    <a:srgbClr val="2B0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FC920-C0F8-4E8A-B378-D1E95AE5828C}" v="5" dt="2024-09-05T15:58:11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59" autoAdjust="0"/>
    <p:restoredTop sz="86380" autoAdjust="0"/>
  </p:normalViewPr>
  <p:slideViewPr>
    <p:cSldViewPr>
      <p:cViewPr>
        <p:scale>
          <a:sx n="75" d="100"/>
          <a:sy n="75" d="100"/>
        </p:scale>
        <p:origin x="1085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6" y="3694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vyashree murugan" userId="27dd15d8bba722b7" providerId="LiveId" clId="{0D0FC920-C0F8-4E8A-B378-D1E95AE5828C}"/>
    <pc:docChg chg="undo custSel addSld delSld modSld">
      <pc:chgData name="dhivyashree murugan" userId="27dd15d8bba722b7" providerId="LiveId" clId="{0D0FC920-C0F8-4E8A-B378-D1E95AE5828C}" dt="2024-09-05T16:00:08.841" v="132" actId="20577"/>
      <pc:docMkLst>
        <pc:docMk/>
      </pc:docMkLst>
      <pc:sldChg chg="modSp mod">
        <pc:chgData name="dhivyashree murugan" userId="27dd15d8bba722b7" providerId="LiveId" clId="{0D0FC920-C0F8-4E8A-B378-D1E95AE5828C}" dt="2024-09-05T15:50:35.836" v="75" actId="20577"/>
        <pc:sldMkLst>
          <pc:docMk/>
          <pc:sldMk cId="0" sldId="256"/>
        </pc:sldMkLst>
        <pc:spChg chg="mod">
          <ac:chgData name="dhivyashree murugan" userId="27dd15d8bba722b7" providerId="LiveId" clId="{0D0FC920-C0F8-4E8A-B378-D1E95AE5828C}" dt="2024-09-05T15:50:35.836" v="75" actId="20577"/>
          <ac:spMkLst>
            <pc:docMk/>
            <pc:sldMk cId="0" sldId="256"/>
            <ac:spMk id="4" creationId="{00000000-0000-0000-0000-000000000000}"/>
          </ac:spMkLst>
        </pc:spChg>
      </pc:sldChg>
      <pc:sldChg chg="add del">
        <pc:chgData name="dhivyashree murugan" userId="27dd15d8bba722b7" providerId="LiveId" clId="{0D0FC920-C0F8-4E8A-B378-D1E95AE5828C}" dt="2024-09-05T10:54:47.702" v="20"/>
        <pc:sldMkLst>
          <pc:docMk/>
          <pc:sldMk cId="2445202976" sldId="263"/>
        </pc:sldMkLst>
      </pc:sldChg>
      <pc:sldChg chg="addSp delSp modSp del mod">
        <pc:chgData name="dhivyashree murugan" userId="27dd15d8bba722b7" providerId="LiveId" clId="{0D0FC920-C0F8-4E8A-B378-D1E95AE5828C}" dt="2024-09-05T10:54:23.715" v="4" actId="2696"/>
        <pc:sldMkLst>
          <pc:docMk/>
          <pc:sldMk cId="3308657460" sldId="263"/>
        </pc:sldMkLst>
        <pc:spChg chg="del mod">
          <ac:chgData name="dhivyashree murugan" userId="27dd15d8bba722b7" providerId="LiveId" clId="{0D0FC920-C0F8-4E8A-B378-D1E95AE5828C}" dt="2024-09-05T10:53:50.989" v="2" actId="478"/>
          <ac:spMkLst>
            <pc:docMk/>
            <pc:sldMk cId="3308657460" sldId="263"/>
            <ac:spMk id="3" creationId="{00000000-0000-0000-0000-000000000000}"/>
          </ac:spMkLst>
        </pc:spChg>
        <pc:spChg chg="mod">
          <ac:chgData name="dhivyashree murugan" userId="27dd15d8bba722b7" providerId="LiveId" clId="{0D0FC920-C0F8-4E8A-B378-D1E95AE5828C}" dt="2024-09-05T10:53:43.968" v="0" actId="6549"/>
          <ac:spMkLst>
            <pc:docMk/>
            <pc:sldMk cId="3308657460" sldId="263"/>
            <ac:spMk id="5" creationId="{00000000-0000-0000-0000-000000000000}"/>
          </ac:spMkLst>
        </pc:spChg>
        <pc:spChg chg="add mod">
          <ac:chgData name="dhivyashree murugan" userId="27dd15d8bba722b7" providerId="LiveId" clId="{0D0FC920-C0F8-4E8A-B378-D1E95AE5828C}" dt="2024-09-05T10:54:01.519" v="3" actId="5793"/>
          <ac:spMkLst>
            <pc:docMk/>
            <pc:sldMk cId="3308657460" sldId="263"/>
            <ac:spMk id="12" creationId="{2BA0C996-D350-B135-EF38-ABFD83549631}"/>
          </ac:spMkLst>
        </pc:spChg>
      </pc:sldChg>
      <pc:sldChg chg="addSp delSp modSp mod">
        <pc:chgData name="dhivyashree murugan" userId="27dd15d8bba722b7" providerId="LiveId" clId="{0D0FC920-C0F8-4E8A-B378-D1E95AE5828C}" dt="2024-09-05T16:00:08.841" v="132" actId="20577"/>
        <pc:sldMkLst>
          <pc:docMk/>
          <pc:sldMk cId="1954708599" sldId="266"/>
        </pc:sldMkLst>
        <pc:spChg chg="mod">
          <ac:chgData name="dhivyashree murugan" userId="27dd15d8bba722b7" providerId="LiveId" clId="{0D0FC920-C0F8-4E8A-B378-D1E95AE5828C}" dt="2024-09-05T16:00:08.841" v="132" actId="20577"/>
          <ac:spMkLst>
            <pc:docMk/>
            <pc:sldMk cId="1954708599" sldId="266"/>
            <ac:spMk id="2" creationId="{E2EDE719-54EE-0485-B2BB-2292C6BB2049}"/>
          </ac:spMkLst>
        </pc:spChg>
        <pc:spChg chg="add del mod">
          <ac:chgData name="dhivyashree murugan" userId="27dd15d8bba722b7" providerId="LiveId" clId="{0D0FC920-C0F8-4E8A-B378-D1E95AE5828C}" dt="2024-09-05T16:00:05.623" v="131" actId="14100"/>
          <ac:spMkLst>
            <pc:docMk/>
            <pc:sldMk cId="1954708599" sldId="266"/>
            <ac:spMk id="3" creationId="{00000000-0000-0000-0000-000000000000}"/>
          </ac:spMkLst>
        </pc:spChg>
        <pc:spChg chg="add del mod">
          <ac:chgData name="dhivyashree murugan" userId="27dd15d8bba722b7" providerId="LiveId" clId="{0D0FC920-C0F8-4E8A-B378-D1E95AE5828C}" dt="2024-09-05T16:00:02.249" v="130" actId="478"/>
          <ac:spMkLst>
            <pc:docMk/>
            <pc:sldMk cId="1954708599" sldId="266"/>
            <ac:spMk id="5" creationId="{9A416CBD-3C19-0A9D-0B6B-38040E2542FF}"/>
          </ac:spMkLst>
        </pc:spChg>
      </pc:sldChg>
      <pc:sldChg chg="addSp delSp modSp add mod">
        <pc:chgData name="dhivyashree murugan" userId="27dd15d8bba722b7" providerId="LiveId" clId="{0D0FC920-C0F8-4E8A-B378-D1E95AE5828C}" dt="2024-09-05T15:51:39.705" v="86" actId="1076"/>
        <pc:sldMkLst>
          <pc:docMk/>
          <pc:sldMk cId="1776546705" sldId="268"/>
        </pc:sldMkLst>
        <pc:spChg chg="add del mod">
          <ac:chgData name="dhivyashree murugan" userId="27dd15d8bba722b7" providerId="LiveId" clId="{0D0FC920-C0F8-4E8A-B378-D1E95AE5828C}" dt="2024-09-05T10:54:46.039" v="19" actId="47"/>
          <ac:spMkLst>
            <pc:docMk/>
            <pc:sldMk cId="1776546705" sldId="268"/>
            <ac:spMk id="2" creationId="{0C193984-398F-5B1A-C04B-B26073DE76C5}"/>
          </ac:spMkLst>
        </pc:spChg>
        <pc:spChg chg="mod">
          <ac:chgData name="dhivyashree murugan" userId="27dd15d8bba722b7" providerId="LiveId" clId="{0D0FC920-C0F8-4E8A-B378-D1E95AE5828C}" dt="2024-09-05T10:54:40.361" v="14" actId="20577"/>
          <ac:spMkLst>
            <pc:docMk/>
            <pc:sldMk cId="1776546705" sldId="268"/>
            <ac:spMk id="14338" creationId="{00000000-0000-0000-0000-000000000000}"/>
          </ac:spMkLst>
        </pc:spChg>
        <pc:picChg chg="add mod">
          <ac:chgData name="dhivyashree murugan" userId="27dd15d8bba722b7" providerId="LiveId" clId="{0D0FC920-C0F8-4E8A-B378-D1E95AE5828C}" dt="2024-09-05T15:51:39.705" v="86" actId="1076"/>
          <ac:picMkLst>
            <pc:docMk/>
            <pc:sldMk cId="1776546705" sldId="268"/>
            <ac:picMk id="4" creationId="{43C9CAEF-0C2E-DD23-BEAA-FD0D3DE42F1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9ADC7-433E-456E-B274-7581E36BDB2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EDDDF-4F18-4F8A-A151-493296BCB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77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296B9-C56B-4C8B-BF82-4BAC074CF3C2}" type="datetimeFigureOut">
              <a:rPr lang="en-US" smtClean="0"/>
              <a:pPr/>
              <a:t>9/5/2024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267E4-C52D-4DB2-9CA8-0B56124A9F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6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90F39BA-23CA-4030-B241-88590D155614}" type="slidenum">
              <a:rPr lang="en-IN" smtClean="0">
                <a:latin typeface="Calibri" panose="020F0502020204030204" pitchFamily="34" charset="0"/>
              </a:rPr>
              <a:pPr/>
              <a:t>2</a:t>
            </a:fld>
            <a:endParaRPr lang="en-I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32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267E4-C52D-4DB2-9CA8-0B56124A9FC3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4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412-909E-4E21-B6E3-771848DD6564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B431-EEA5-4BBC-82AC-40F761174871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3A495-87A8-4B20-84FA-30FD34C00C24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5297-51D0-403E-9CDD-CB6958F83DA7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4A1C7-0DC4-4D0B-88FB-17CFD6FC45AF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527C-D660-471A-9D2A-D8A5B50FAEA2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4590-BFA6-4675-99B4-B3E1BE4FCC66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32D9-5644-4F71-A473-5905705FE866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9401-C61E-4136-BBD3-A149841ADF21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F3C7-1448-4E3B-B701-CE4037A655F9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A3D3E-3E4B-4FD8-9C75-F9058813F98D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7C5A9-0F2C-4DF7-BF89-E214E8EC700C}" type="datetime1">
              <a:rPr lang="en-US" smtClean="0"/>
              <a:pPr/>
              <a:t>9/5/2024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9814-85F0-44E2-AA29-54E28A9837B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77250302400039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chb.2024.108404" TargetMode="External"/><Relationship Id="rId4" Type="http://schemas.openxmlformats.org/officeDocument/2006/relationships/hyperlink" Target="https://doi.org/10.1016/j.ipm.2023.1034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tile tx="0" ty="0" sx="98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00826" y="6492874"/>
            <a:ext cx="2088000" cy="468000"/>
          </a:xfrm>
        </p:spPr>
        <p:txBody>
          <a:bodyPr/>
          <a:lstStyle/>
          <a:p>
            <a:fld id="{33009814-85F0-44E2-AA29-54E28A9837B4}" type="slidenum">
              <a:rPr lang="en-IN" sz="1400" smtClean="0">
                <a:solidFill>
                  <a:schemeClr val="tx1"/>
                </a:solidFill>
              </a:rPr>
              <a:pPr/>
              <a:t>1</a:t>
            </a:fld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5650" y="1522413"/>
            <a:ext cx="8001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20ME278 – Mini Project II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2060"/>
                </a:solidFill>
              </a:rPr>
              <a:t>“</a:t>
            </a:r>
            <a:r>
              <a:rPr lang="en-US" sz="2800" b="1" dirty="0">
                <a:solidFill>
                  <a:srgbClr val="7030A0"/>
                </a:solidFill>
              </a:rPr>
              <a:t>AI-Enhanced Medical Chatbot: Optimizing Doctor Schedules and Patient Services” </a:t>
            </a:r>
            <a:endParaRPr lang="en-US" sz="2800" b="1" dirty="0">
              <a:solidFill>
                <a:srgbClr val="00206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rgbClr val="00206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00B0F0"/>
                </a:solidFill>
              </a:rPr>
              <a:t>Type of Project:</a:t>
            </a:r>
            <a:r>
              <a:rPr lang="en-GB" sz="1600" dirty="0">
                <a:solidFill>
                  <a:srgbClr val="00B0F0"/>
                </a:solidFill>
              </a:rPr>
              <a:t> Real Time Implementation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</a:rPr>
              <a:t>Presented b</a:t>
            </a:r>
            <a:r>
              <a:rPr lang="en-GB" sz="2000" b="1" dirty="0">
                <a:solidFill>
                  <a:srgbClr val="FF0000"/>
                </a:solidFill>
              </a:rPr>
              <a:t>y</a:t>
            </a:r>
            <a:endParaRPr lang="en-US" sz="2000" b="1" dirty="0">
              <a:solidFill>
                <a:srgbClr val="FF000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 err="1">
                <a:solidFill>
                  <a:srgbClr val="002060"/>
                </a:solidFill>
              </a:rPr>
              <a:t>Adharsha</a:t>
            </a:r>
            <a:r>
              <a:rPr lang="en-GB" sz="2000" b="1" dirty="0">
                <a:solidFill>
                  <a:srgbClr val="002060"/>
                </a:solidFill>
              </a:rPr>
              <a:t> V – 71812201007 (CSE)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rgbClr val="002060"/>
                </a:solidFill>
              </a:rPr>
              <a:t>Dhivyashree MP– 71812201042 (CSE)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rgbClr val="002060"/>
                </a:solidFill>
              </a:rPr>
              <a:t>Shree Nithi VM – 718125301024 (</a:t>
            </a:r>
            <a:r>
              <a:rPr lang="en-GB" sz="2000" b="1" dirty="0" err="1">
                <a:solidFill>
                  <a:srgbClr val="002060"/>
                </a:solidFill>
              </a:rPr>
              <a:t>Mtech</a:t>
            </a:r>
            <a:r>
              <a:rPr lang="en-GB" sz="2000" b="1" dirty="0">
                <a:solidFill>
                  <a:srgbClr val="002060"/>
                </a:solidFill>
              </a:rPr>
              <a:t>)</a:t>
            </a:r>
            <a:endParaRPr lang="en-US" sz="2000" b="1" dirty="0">
              <a:solidFill>
                <a:srgbClr val="00206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FF000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</a:rPr>
              <a:t>Guided by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solidFill>
                  <a:srgbClr val="002060"/>
                </a:solidFill>
              </a:rPr>
              <a:t>Dr.R.Anuradha.,Prof</a:t>
            </a:r>
            <a:r>
              <a:rPr lang="en-US" sz="2000" b="1" dirty="0">
                <a:solidFill>
                  <a:srgbClr val="002060"/>
                </a:solidFill>
              </a:rPr>
              <a:t>/CSE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9388" y="1522412"/>
            <a:ext cx="1944340" cy="53843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Batch No</a:t>
            </a:r>
            <a:r>
              <a:rPr lang="en-US" dirty="0">
                <a:solidFill>
                  <a:srgbClr val="FF0000"/>
                </a:solidFill>
              </a:rPr>
              <a:t>:23</a:t>
            </a:r>
            <a:r>
              <a:rPr lang="en-GB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3528" y="5954439"/>
            <a:ext cx="2952328" cy="53843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b="1" dirty="0">
                <a:solidFill>
                  <a:srgbClr val="7030A0"/>
                </a:solidFill>
              </a:rPr>
              <a:t>Review Type :</a:t>
            </a:r>
            <a:r>
              <a:rPr lang="en-US" b="1" dirty="0">
                <a:solidFill>
                  <a:schemeClr val="tx2"/>
                </a:solidFill>
              </a:rPr>
              <a:t>0</a:t>
            </a:r>
            <a:r>
              <a:rPr lang="en-US" b="1" baseline="30000" dirty="0">
                <a:solidFill>
                  <a:schemeClr val="tx2"/>
                </a:solidFill>
              </a:rPr>
              <a:t>th</a:t>
            </a:r>
            <a:r>
              <a:rPr lang="en-US" b="1" dirty="0">
                <a:solidFill>
                  <a:schemeClr val="tx2"/>
                </a:solidFill>
              </a:rPr>
              <a:t> Review</a:t>
            </a:r>
          </a:p>
          <a:p>
            <a:pPr>
              <a:defRPr/>
            </a:pPr>
            <a:r>
              <a:rPr lang="en-US" b="1" dirty="0">
                <a:solidFill>
                  <a:srgbClr val="7030A0"/>
                </a:solidFill>
              </a:rPr>
              <a:t>Date               : </a:t>
            </a:r>
            <a:r>
              <a:rPr lang="en-US" b="1" dirty="0">
                <a:solidFill>
                  <a:schemeClr val="tx2"/>
                </a:solidFill>
              </a:rPr>
              <a:t>06.09.2024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27984" y="620688"/>
            <a:ext cx="266429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00CC"/>
                </a:solidFill>
              </a:rPr>
              <a:t>Reaccredited by NAAC with A+ grade]</a:t>
            </a:r>
            <a:endParaRPr lang="en-IN" sz="1200" b="1" dirty="0">
              <a:solidFill>
                <a:srgbClr val="0000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753B5-9311-117A-BF5B-6FEB61B1121F}"/>
              </a:ext>
            </a:extLst>
          </p:cNvPr>
          <p:cNvSpPr txBox="1"/>
          <p:nvPr/>
        </p:nvSpPr>
        <p:spPr>
          <a:xfrm>
            <a:off x="3657600" y="256449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4CC97-CA28-C1E3-E8CF-1FF35FDA1AEF}"/>
              </a:ext>
            </a:extLst>
          </p:cNvPr>
          <p:cNvSpPr txBox="1"/>
          <p:nvPr/>
        </p:nvSpPr>
        <p:spPr>
          <a:xfrm>
            <a:off x="3658193" y="256623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IN" sz="28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Contents</a:t>
            </a:r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72250" y="6492875"/>
            <a:ext cx="2133600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479332-45A7-4D8A-AF47-7584566C1E36}" type="slidenum">
              <a:rPr lang="en-IN" sz="12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IN" sz="12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28220"/>
              </p:ext>
            </p:extLst>
          </p:nvPr>
        </p:nvGraphicFramePr>
        <p:xfrm>
          <a:off x="457200" y="1600200"/>
          <a:ext cx="8229600" cy="2595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Number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Modules of the project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5-6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Implementation and Workflow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Timeline 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0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23528" y="1624012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solidFill>
                  <a:srgbClr val="002060"/>
                </a:solidFill>
              </a:rPr>
              <a:t>Modern healthcare faces challenges in managing doctor workloads and ensuring quality patient care.</a:t>
            </a:r>
          </a:p>
          <a:p>
            <a:pPr algn="just"/>
            <a:endParaRPr lang="en-US" sz="2200" dirty="0">
              <a:solidFill>
                <a:srgbClr val="002060"/>
              </a:solidFill>
            </a:endParaRPr>
          </a:p>
          <a:p>
            <a:pPr algn="just"/>
            <a:r>
              <a:rPr lang="en-US" sz="2200" dirty="0">
                <a:solidFill>
                  <a:srgbClr val="002060"/>
                </a:solidFill>
              </a:rPr>
              <a:t>Our project proposes an AI-powered chatbot that integrates natural language processing (NLP) and voice recognition to automate appointment management, inventory control, and patient interactions.</a:t>
            </a:r>
          </a:p>
          <a:p>
            <a:pPr marL="0" indent="0" algn="just">
              <a:buNone/>
            </a:pPr>
            <a:endParaRPr lang="en-US" sz="2200" dirty="0">
              <a:solidFill>
                <a:srgbClr val="002060"/>
              </a:solidFill>
            </a:endParaRPr>
          </a:p>
          <a:p>
            <a:pPr algn="just"/>
            <a:r>
              <a:rPr lang="en-US" sz="2200" dirty="0">
                <a:solidFill>
                  <a:srgbClr val="002060"/>
                </a:solidFill>
              </a:rPr>
              <a:t>The chatbot aims to reduce the administrative burden on doctors and improve patient engagement by providing timely, personalized information.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464E10-AB48-4C00-8A6A-730BF03530A6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I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69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624012"/>
            <a:ext cx="8229600" cy="417263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b="1" dirty="0"/>
              <a:t>Current Challenges:</a:t>
            </a:r>
          </a:p>
          <a:p>
            <a:pPr algn="just"/>
            <a:r>
              <a:rPr lang="en-US" sz="2200" dirty="0"/>
              <a:t>Overbooked schedules and high workloads for </a:t>
            </a:r>
            <a:r>
              <a:rPr lang="en-US" sz="2200" dirty="0" err="1"/>
              <a:t>doctors.Manual</a:t>
            </a:r>
            <a:r>
              <a:rPr lang="en-US" sz="2200" dirty="0"/>
              <a:t> processes for managing appointments and inventory.</a:t>
            </a:r>
          </a:p>
          <a:p>
            <a:pPr algn="just"/>
            <a:r>
              <a:rPr lang="en-US" sz="2200" dirty="0"/>
              <a:t>Lack of personalized and timely patient engagement.</a:t>
            </a:r>
          </a:p>
          <a:p>
            <a:pPr algn="just"/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Need for Improvement:</a:t>
            </a:r>
          </a:p>
          <a:p>
            <a:pPr algn="just"/>
            <a:r>
              <a:rPr lang="en-US" sz="2200" dirty="0"/>
              <a:t>Streamlined appointment scheduling and management.</a:t>
            </a:r>
          </a:p>
          <a:p>
            <a:pPr algn="just"/>
            <a:r>
              <a:rPr lang="en-US" sz="2200" dirty="0"/>
              <a:t>Automated inventory tracking and alerts.</a:t>
            </a:r>
          </a:p>
          <a:p>
            <a:pPr algn="just"/>
            <a:r>
              <a:rPr lang="en-US" sz="2200" dirty="0"/>
              <a:t>Enhanced communication between patients and healthcare providers.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70BF35-1420-42AA-97E0-CDD574E5E82B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I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58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515225" cy="1214437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Modules of the Project</a:t>
            </a:r>
            <a:endParaRPr lang="en-IN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500188"/>
            <a:ext cx="8280400" cy="3008312"/>
          </a:xfrm>
        </p:spPr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1C282-E751-46B4-A11D-51DF6B800694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IN" sz="1200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93984-398F-5B1A-C04B-B26073DE76C5}"/>
              </a:ext>
            </a:extLst>
          </p:cNvPr>
          <p:cNvSpPr txBox="1"/>
          <p:nvPr/>
        </p:nvSpPr>
        <p:spPr>
          <a:xfrm>
            <a:off x="642939" y="1689100"/>
            <a:ext cx="767347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</a:rPr>
              <a:t>Appointment Management:</a:t>
            </a:r>
          </a:p>
          <a:p>
            <a:pPr algn="l"/>
            <a:r>
              <a:rPr lang="en-US" sz="2200" dirty="0">
                <a:solidFill>
                  <a:srgbClr val="002060"/>
                </a:solidFill>
              </a:rPr>
              <a:t> Automatically schedules, reschedules, and cancels appointments based on the doctor’s availability and workload.</a:t>
            </a:r>
          </a:p>
          <a:p>
            <a:pPr algn="l"/>
            <a:endParaRPr lang="en-US" sz="2200" dirty="0">
              <a:solidFill>
                <a:srgbClr val="002060"/>
              </a:solidFill>
            </a:endParaRPr>
          </a:p>
          <a:p>
            <a:pPr algn="l"/>
            <a:r>
              <a:rPr lang="en-US" sz="2200" b="1" dirty="0">
                <a:solidFill>
                  <a:srgbClr val="002060"/>
                </a:solidFill>
              </a:rPr>
              <a:t>Recommendation System: </a:t>
            </a:r>
          </a:p>
          <a:p>
            <a:pPr algn="l"/>
            <a:r>
              <a:rPr lang="en-US" sz="2200" dirty="0">
                <a:solidFill>
                  <a:srgbClr val="002060"/>
                </a:solidFill>
              </a:rPr>
              <a:t>AI-driven module that suggests optimal appointment times to reduce doctor fatigue.</a:t>
            </a:r>
          </a:p>
          <a:p>
            <a:pPr algn="l"/>
            <a:endParaRPr lang="en-US" sz="2200" dirty="0">
              <a:solidFill>
                <a:srgbClr val="002060"/>
              </a:solidFill>
            </a:endParaRPr>
          </a:p>
          <a:p>
            <a:pPr algn="l"/>
            <a:r>
              <a:rPr lang="en-US" sz="2200" b="1" dirty="0">
                <a:solidFill>
                  <a:srgbClr val="002060"/>
                </a:solidFill>
              </a:rPr>
              <a:t>Inventory Management: </a:t>
            </a:r>
          </a:p>
          <a:p>
            <a:pPr algn="l"/>
            <a:r>
              <a:rPr lang="en-US" sz="2200" dirty="0">
                <a:solidFill>
                  <a:srgbClr val="002060"/>
                </a:solidFill>
              </a:rPr>
              <a:t>Monitors stock levels, provides alerts for low stock, and generates inventory reports.</a:t>
            </a:r>
          </a:p>
        </p:txBody>
      </p:sp>
    </p:spTree>
    <p:extLst>
      <p:ext uri="{BB962C8B-B14F-4D97-AF65-F5344CB8AC3E}">
        <p14:creationId xmlns:p14="http://schemas.microsoft.com/office/powerpoint/2010/main" val="146807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515225" cy="1214437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Modules of the Project</a:t>
            </a:r>
            <a:endParaRPr lang="en-IN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500188"/>
            <a:ext cx="8280400" cy="3008312"/>
          </a:xfrm>
        </p:spPr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1C282-E751-46B4-A11D-51DF6B800694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IN" sz="1200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93984-398F-5B1A-C04B-B26073DE76C5}"/>
              </a:ext>
            </a:extLst>
          </p:cNvPr>
          <p:cNvSpPr txBox="1"/>
          <p:nvPr/>
        </p:nvSpPr>
        <p:spPr>
          <a:xfrm>
            <a:off x="642939" y="1689100"/>
            <a:ext cx="767347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</a:rPr>
              <a:t>Voice Recognition &amp; NLP: </a:t>
            </a:r>
          </a:p>
          <a:p>
            <a:pPr algn="l"/>
            <a:r>
              <a:rPr lang="en-US" sz="2200" dirty="0">
                <a:solidFill>
                  <a:srgbClr val="002060"/>
                </a:solidFill>
              </a:rPr>
              <a:t>Allows doctors to interact with the chatbot using voice commands, making it faster and easier to use.</a:t>
            </a:r>
          </a:p>
          <a:p>
            <a:pPr algn="l"/>
            <a:endParaRPr lang="en-US" sz="2200" dirty="0">
              <a:solidFill>
                <a:srgbClr val="002060"/>
              </a:solidFill>
            </a:endParaRPr>
          </a:p>
          <a:p>
            <a:pPr algn="l"/>
            <a:r>
              <a:rPr lang="en-US" sz="2200" b="1" dirty="0">
                <a:solidFill>
                  <a:srgbClr val="002060"/>
                </a:solidFill>
              </a:rPr>
              <a:t>Patient Engagement: </a:t>
            </a:r>
          </a:p>
          <a:p>
            <a:pPr algn="l"/>
            <a:r>
              <a:rPr lang="en-US" sz="2200" dirty="0">
                <a:solidFill>
                  <a:srgbClr val="002060"/>
                </a:solidFill>
              </a:rPr>
              <a:t>Provides accurate responses to patient queries, symptom analysis, and health advice.</a:t>
            </a:r>
          </a:p>
          <a:p>
            <a:pPr algn="l"/>
            <a:endParaRPr lang="en-US" sz="2200" dirty="0">
              <a:solidFill>
                <a:srgbClr val="002060"/>
              </a:solidFill>
            </a:endParaRPr>
          </a:p>
          <a:p>
            <a:pPr algn="l"/>
            <a:r>
              <a:rPr lang="en-US" sz="2200" b="1" dirty="0">
                <a:solidFill>
                  <a:srgbClr val="002060"/>
                </a:solidFill>
              </a:rPr>
              <a:t>Integration with Website: </a:t>
            </a:r>
          </a:p>
          <a:p>
            <a:pPr algn="l"/>
            <a:r>
              <a:rPr lang="en-US" sz="2200" dirty="0">
                <a:solidFill>
                  <a:srgbClr val="002060"/>
                </a:solidFill>
              </a:rPr>
              <a:t>Seamless interface for doctors and patients to access chatbot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209220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515225" cy="1214437"/>
          </a:xfrm>
        </p:spPr>
        <p:txBody>
          <a:bodyPr/>
          <a:lstStyle/>
          <a:p>
            <a:pPr eaLnBrk="1" hangingPunct="1"/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IN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500188"/>
            <a:ext cx="8280400" cy="3008312"/>
          </a:xfrm>
        </p:spPr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1C282-E751-46B4-A11D-51DF6B800694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IN" sz="1200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93984-398F-5B1A-C04B-B26073DE76C5}"/>
              </a:ext>
            </a:extLst>
          </p:cNvPr>
          <p:cNvSpPr txBox="1"/>
          <p:nvPr/>
        </p:nvSpPr>
        <p:spPr>
          <a:xfrm>
            <a:off x="642939" y="1689100"/>
            <a:ext cx="7673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2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9CAEF-0C2E-DD23-BEAA-FD0D3DE42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513" y="1500188"/>
            <a:ext cx="3744416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4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515225" cy="1214437"/>
          </a:xfrm>
        </p:spPr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 of the Project and Budget </a:t>
            </a:r>
            <a:endParaRPr lang="en-IN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488" y="1626960"/>
            <a:ext cx="8291512" cy="3746256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rgbClr val="002060"/>
                </a:solidFill>
              </a:rPr>
              <a:t>Month 1-2: </a:t>
            </a:r>
            <a:r>
              <a:rPr lang="en-IN" sz="2200" dirty="0">
                <a:solidFill>
                  <a:srgbClr val="002060"/>
                </a:solidFill>
              </a:rPr>
              <a:t>Requirement analysis, technology stack selection, chatbot framework design.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rgbClr val="002060"/>
                </a:solidFill>
              </a:rPr>
              <a:t>Month 3-4: </a:t>
            </a:r>
            <a:r>
              <a:rPr lang="en-IN" sz="2200" dirty="0">
                <a:solidFill>
                  <a:srgbClr val="002060"/>
                </a:solidFill>
              </a:rPr>
              <a:t>Develop core </a:t>
            </a:r>
            <a:r>
              <a:rPr lang="en-IN" sz="2200" dirty="0" err="1">
                <a:solidFill>
                  <a:srgbClr val="002060"/>
                </a:solidFill>
              </a:rPr>
              <a:t>functionalities,appointment</a:t>
            </a:r>
            <a:r>
              <a:rPr lang="en-IN" sz="2200" dirty="0">
                <a:solidFill>
                  <a:srgbClr val="002060"/>
                </a:solidFill>
              </a:rPr>
              <a:t> management, voice recognition, and patient engagement.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rgbClr val="002060"/>
                </a:solidFill>
              </a:rPr>
              <a:t>Month 5: </a:t>
            </a:r>
            <a:r>
              <a:rPr lang="en-IN" sz="2200" dirty="0">
                <a:solidFill>
                  <a:srgbClr val="002060"/>
                </a:solidFill>
              </a:rPr>
              <a:t>Implement recommendation system and integrate inventory management.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rgbClr val="002060"/>
                </a:solidFill>
              </a:rPr>
              <a:t>Month 6: </a:t>
            </a:r>
            <a:r>
              <a:rPr lang="en-IN" sz="2200" dirty="0">
                <a:solidFill>
                  <a:srgbClr val="002060"/>
                </a:solidFill>
              </a:rPr>
              <a:t>Testing, debugging, and performance optimization.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rgbClr val="002060"/>
                </a:solidFill>
              </a:rPr>
              <a:t>Month 7: </a:t>
            </a:r>
            <a:r>
              <a:rPr lang="en-IN" sz="2200" dirty="0">
                <a:solidFill>
                  <a:srgbClr val="002060"/>
                </a:solidFill>
              </a:rPr>
              <a:t>Website integration and UI enhancements; deployment.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sz="2200" b="1" dirty="0">
                <a:solidFill>
                  <a:srgbClr val="002060"/>
                </a:solidFill>
              </a:rPr>
              <a:t>Month 8: </a:t>
            </a:r>
            <a:r>
              <a:rPr lang="en-IN" sz="2200" dirty="0">
                <a:solidFill>
                  <a:srgbClr val="002060"/>
                </a:solidFill>
              </a:rPr>
              <a:t>Collect user feedback, make improvements, and finalize documentation.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1C282-E751-46B4-A11D-51DF6B800694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I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2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515225" cy="1214437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and Innovation</a:t>
            </a:r>
            <a:endParaRPr lang="en-IN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500188"/>
            <a:ext cx="8280400" cy="4632098"/>
          </a:xfrm>
        </p:spPr>
        <p:txBody>
          <a:bodyPr rtlCol="0">
            <a:noAutofit/>
          </a:bodyPr>
          <a:lstStyle/>
          <a:p>
            <a:pPr marL="0" indent="0" algn="just"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Efficiency: </a:t>
            </a:r>
          </a:p>
          <a:p>
            <a:pPr marL="0" indent="0" algn="just">
              <a:buNone/>
              <a:defRPr/>
            </a:pPr>
            <a:r>
              <a:rPr lang="en-US" sz="2200" dirty="0">
                <a:solidFill>
                  <a:srgbClr val="002060"/>
                </a:solidFill>
              </a:rPr>
              <a:t>Reduces time spent on administrative tasks, allowing doctors to focus more on patient care.</a:t>
            </a:r>
          </a:p>
          <a:p>
            <a:pPr marL="0" indent="0" algn="just"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Accuracy: </a:t>
            </a:r>
          </a:p>
          <a:p>
            <a:pPr marL="0" indent="0" algn="just">
              <a:buNone/>
              <a:defRPr/>
            </a:pPr>
            <a:r>
              <a:rPr lang="en-US" sz="2200" dirty="0">
                <a:solidFill>
                  <a:srgbClr val="002060"/>
                </a:solidFill>
              </a:rPr>
              <a:t>AI models ensure precise responses to medical queries and optimized scheduling.</a:t>
            </a:r>
          </a:p>
          <a:p>
            <a:pPr marL="0" indent="0" algn="just"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Engagement: </a:t>
            </a:r>
          </a:p>
          <a:p>
            <a:pPr marL="0" indent="0" algn="just">
              <a:buNone/>
              <a:defRPr/>
            </a:pPr>
            <a:r>
              <a:rPr lang="en-US" sz="2200" dirty="0">
                <a:solidFill>
                  <a:srgbClr val="002060"/>
                </a:solidFill>
              </a:rPr>
              <a:t>Enhanced patient interaction through personalized responses and health reminders.</a:t>
            </a:r>
          </a:p>
          <a:p>
            <a:pPr marL="0" indent="0" algn="just"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Scalability: </a:t>
            </a:r>
          </a:p>
          <a:p>
            <a:pPr marL="0" indent="0" algn="just">
              <a:buNone/>
              <a:defRPr/>
            </a:pPr>
            <a:r>
              <a:rPr lang="en-US" sz="2200" dirty="0">
                <a:solidFill>
                  <a:srgbClr val="002060"/>
                </a:solidFill>
              </a:rPr>
              <a:t>Easily integrates with existing healthcare systems and websites.</a:t>
            </a:r>
            <a:endParaRPr lang="en-IN" sz="2200" dirty="0">
              <a:solidFill>
                <a:srgbClr val="002060"/>
              </a:solidFill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1C282-E751-46B4-A11D-51DF6B800694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I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07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2938" y="214313"/>
            <a:ext cx="7515225" cy="1214437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  <a:endParaRPr lang="en-IN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500188"/>
            <a:ext cx="8280400" cy="4089052"/>
          </a:xfrm>
        </p:spPr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5300" dirty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51C282-E751-46B4-A11D-51DF6B800694}" type="slidenum">
              <a:rPr lang="en-IN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IN" sz="1200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EDE719-54EE-0485-B2BB-2292C6BB2049}"/>
              </a:ext>
            </a:extLst>
          </p:cNvPr>
          <p:cNvSpPr txBox="1"/>
          <p:nvPr/>
        </p:nvSpPr>
        <p:spPr>
          <a:xfrm>
            <a:off x="1325676" y="1997839"/>
            <a:ext cx="614974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060"/>
                </a:solidFill>
              </a:rPr>
              <a:t>1.Cao, Y., Zhou, M., &amp; Wang, J. (2024). Network-integrated medical chatbot for enhanced healthcare services. Journal of Healthcare Informatics Research</a:t>
            </a:r>
            <a:r>
              <a:rPr lang="en-US" sz="1400" dirty="0">
                <a:solidFill>
                  <a:srgbClr val="002060"/>
                </a:solidFill>
                <a:hlinkClick r:id="rId3"/>
              </a:rPr>
              <a:t> Paper</a:t>
            </a:r>
            <a:r>
              <a:rPr lang="en-US" sz="1400" dirty="0">
                <a:solidFill>
                  <a:srgbClr val="002060"/>
                </a:solidFill>
              </a:rPr>
              <a:t>.</a:t>
            </a:r>
          </a:p>
          <a:p>
            <a:pPr algn="l"/>
            <a:endParaRPr lang="en-US" sz="1400" dirty="0">
              <a:solidFill>
                <a:srgbClr val="002060"/>
              </a:solidFill>
            </a:endParaRPr>
          </a:p>
          <a:p>
            <a:pPr algn="l"/>
            <a:r>
              <a:rPr lang="en-US" sz="1400" dirty="0">
                <a:solidFill>
                  <a:srgbClr val="002060"/>
                </a:solidFill>
              </a:rPr>
              <a:t>2.Xiwei Wang, Ran Luo, Yutong Liu, Peng Chen, Yuanyuan Tao, </a:t>
            </a:r>
            <a:r>
              <a:rPr lang="en-US" sz="1400" dirty="0" err="1">
                <a:solidFill>
                  <a:srgbClr val="002060"/>
                </a:solidFill>
              </a:rPr>
              <a:t>Yuming</a:t>
            </a:r>
            <a:r>
              <a:rPr lang="en-US" sz="1400" dirty="0">
                <a:solidFill>
                  <a:srgbClr val="002060"/>
                </a:solidFill>
              </a:rPr>
              <a:t> He,</a:t>
            </a:r>
          </a:p>
          <a:p>
            <a:pPr algn="l"/>
            <a:r>
              <a:rPr lang="en-US" sz="1400" dirty="0">
                <a:solidFill>
                  <a:srgbClr val="002060"/>
                </a:solidFill>
              </a:rPr>
              <a:t>Revealing the complexity of users’ intention to adopt healthcare chatbots: A mixed-method analysis of antecedent condition configurations,</a:t>
            </a:r>
          </a:p>
          <a:p>
            <a:pPr algn="l"/>
            <a:r>
              <a:rPr lang="en-US" sz="1400" dirty="0">
                <a:solidFill>
                  <a:srgbClr val="002060"/>
                </a:solidFill>
              </a:rPr>
              <a:t>Information Processing &amp; </a:t>
            </a:r>
            <a:r>
              <a:rPr lang="en-US" sz="1400" dirty="0" err="1">
                <a:solidFill>
                  <a:srgbClr val="002060"/>
                </a:solidFill>
              </a:rPr>
              <a:t>Management,</a:t>
            </a:r>
            <a:r>
              <a:rPr lang="en-US" sz="1400" dirty="0" err="1">
                <a:solidFill>
                  <a:srgbClr val="002060"/>
                </a:solidFill>
                <a:hlinkClick r:id="rId4"/>
              </a:rPr>
              <a:t>Paper</a:t>
            </a:r>
            <a:r>
              <a:rPr lang="en-US" sz="1400" dirty="0">
                <a:solidFill>
                  <a:srgbClr val="002060"/>
                </a:solidFill>
                <a:hlinkClick r:id="rId4"/>
              </a:rPr>
              <a:t> Link</a:t>
            </a:r>
            <a:endParaRPr lang="en-US" sz="1400" dirty="0">
              <a:solidFill>
                <a:srgbClr val="002060"/>
              </a:solidFill>
            </a:endParaRPr>
          </a:p>
          <a:p>
            <a:pPr algn="l"/>
            <a:endParaRPr lang="en-US" sz="1400" dirty="0">
              <a:solidFill>
                <a:srgbClr val="002060"/>
              </a:solidFill>
            </a:endParaRPr>
          </a:p>
          <a:p>
            <a:pPr algn="l"/>
            <a:r>
              <a:rPr lang="en-US" sz="1400" dirty="0">
                <a:solidFill>
                  <a:srgbClr val="002060"/>
                </a:solidFill>
              </a:rPr>
              <a:t>3.Loukas </a:t>
            </a:r>
            <a:r>
              <a:rPr lang="en-US" sz="1400" dirty="0" err="1">
                <a:solidFill>
                  <a:srgbClr val="002060"/>
                </a:solidFill>
              </a:rPr>
              <a:t>Triantafyllopoulos</a:t>
            </a:r>
            <a:r>
              <a:rPr lang="en-US" sz="1400" dirty="0">
                <a:solidFill>
                  <a:srgbClr val="002060"/>
                </a:solidFill>
              </a:rPr>
              <a:t>, Georgios </a:t>
            </a:r>
            <a:r>
              <a:rPr lang="en-US" sz="1400" dirty="0" err="1">
                <a:solidFill>
                  <a:srgbClr val="002060"/>
                </a:solidFill>
              </a:rPr>
              <a:t>Feretzakis</a:t>
            </a:r>
            <a:r>
              <a:rPr lang="en-US" sz="1400" dirty="0">
                <a:solidFill>
                  <a:srgbClr val="002060"/>
                </a:solidFill>
              </a:rPr>
              <a:t>, </a:t>
            </a:r>
            <a:r>
              <a:rPr lang="en-US" sz="1400" dirty="0" err="1">
                <a:solidFill>
                  <a:srgbClr val="002060"/>
                </a:solidFill>
              </a:rPr>
              <a:t>Lazaros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Tzelves</a:t>
            </a:r>
            <a:r>
              <a:rPr lang="en-US" sz="1400" dirty="0">
                <a:solidFill>
                  <a:srgbClr val="002060"/>
                </a:solidFill>
              </a:rPr>
              <a:t>, </a:t>
            </a:r>
            <a:r>
              <a:rPr lang="en-US" sz="1400" dirty="0" err="1">
                <a:solidFill>
                  <a:srgbClr val="002060"/>
                </a:solidFill>
              </a:rPr>
              <a:t>Aikaterini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Sakagianni</a:t>
            </a:r>
            <a:r>
              <a:rPr lang="en-US" sz="1400" dirty="0">
                <a:solidFill>
                  <a:srgbClr val="002060"/>
                </a:solidFill>
              </a:rPr>
              <a:t>, Vassilios S. </a:t>
            </a:r>
            <a:r>
              <a:rPr lang="en-US" sz="1400" dirty="0" err="1">
                <a:solidFill>
                  <a:srgbClr val="002060"/>
                </a:solidFill>
              </a:rPr>
              <a:t>Verykios</a:t>
            </a:r>
            <a:r>
              <a:rPr lang="en-US" sz="1400" dirty="0">
                <a:solidFill>
                  <a:srgbClr val="002060"/>
                </a:solidFill>
              </a:rPr>
              <a:t>, Dimitris </a:t>
            </a:r>
            <a:r>
              <a:rPr lang="en-US" sz="1400" dirty="0" err="1">
                <a:solidFill>
                  <a:srgbClr val="002060"/>
                </a:solidFill>
              </a:rPr>
              <a:t>Kalles</a:t>
            </a:r>
            <a:r>
              <a:rPr lang="en-US" sz="1400" dirty="0">
                <a:solidFill>
                  <a:srgbClr val="002060"/>
                </a:solidFill>
              </a:rPr>
              <a:t>,</a:t>
            </a:r>
          </a:p>
          <a:p>
            <a:pPr algn="l"/>
            <a:r>
              <a:rPr lang="en-US" sz="1400" dirty="0">
                <a:solidFill>
                  <a:srgbClr val="002060"/>
                </a:solidFill>
              </a:rPr>
              <a:t>Evaluating the interactions of Medical Doctors with chatbots based on large language models: Insights from a nationwide study in the Greek healthcare sector using ChatGPT, </a:t>
            </a:r>
            <a:r>
              <a:rPr lang="en-US" sz="1400" dirty="0">
                <a:solidFill>
                  <a:srgbClr val="002060"/>
                </a:solidFill>
                <a:hlinkClick r:id="rId5"/>
              </a:rPr>
              <a:t>Paper Link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70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635</Words>
  <Application>Microsoft Office PowerPoint</Application>
  <PresentationFormat>On-screen Show (4:3)</PresentationFormat>
  <Paragraphs>109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 Contents</vt:lpstr>
      <vt:lpstr>Introduction</vt:lpstr>
      <vt:lpstr>Problem Definition</vt:lpstr>
      <vt:lpstr>Modules of the Project</vt:lpstr>
      <vt:lpstr>Modules of the Project</vt:lpstr>
      <vt:lpstr>WorkFlow</vt:lpstr>
      <vt:lpstr>Timeline of the Project and Budget </vt:lpstr>
      <vt:lpstr>Benefits and Innovation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dhivyashree murugan</cp:lastModifiedBy>
  <cp:revision>53</cp:revision>
  <dcterms:created xsi:type="dcterms:W3CDTF">2018-04-23T03:44:47Z</dcterms:created>
  <dcterms:modified xsi:type="dcterms:W3CDTF">2024-09-05T16:00:11Z</dcterms:modified>
</cp:coreProperties>
</file>